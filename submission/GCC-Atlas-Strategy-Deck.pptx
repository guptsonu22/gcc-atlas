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FLEXIPLE PRODUCT INTERN ASSIGNMENT · PRE-ALPHA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900" b="1" i="0">
                <a:solidFill>
                  <a:srgbClr val="EAF1FC"/>
                </a:solidFill>
                <a:latin typeface="Calibri"/>
              </a:rPr>
              <a:t>GCC Atlas — India’s GCC ecosystem, made searchable.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27248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Provenance-first city, policy and company comparison for India capability-centre decisions:
every number carries its source, its date, and its counting denominator.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4045305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82796"/>
            <a:ext cx="404530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WORKING TITLE — name collision flagged (S38)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224528"/>
            <a:ext cx="4572000" cy="256032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4238244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COMPOSITES FROM EVIDENCE — NO INTERVIEWS CONDUCTED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09160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855464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GCCS (PARENT-LEVEL)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1114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2,117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6235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FY2026 · S01/S02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709160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4855464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GCC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51114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3,728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56235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FY2026 · S01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09160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4855464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OF 2025 OFFICE ABSORPTION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51114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56235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CBRE · S20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709160"/>
            <a:ext cx="2578608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4855464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GCC REVENUE FY26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51114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$98.4B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56235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Nasscom–Zinnov · S02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Prototype runs from the repo: `npm run setup &amp;&amp; npm run seed &amp;&amp; npm run dev:api` + `npm run dev:web` (full walkthrough: deployment/demo-walkthrough.md)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The problem: fragmented intelligence, costly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India’s GCC ecosystem is large, fast and definitionally messy — the decision layer above company directories is nowhere assembled.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474720" cy="14813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95144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GCCS PARENT-LEVEL FY2026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51176"/>
            <a:ext cx="3145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2,117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27248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Nasscom–Zinnov · S01/S02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148840"/>
            <a:ext cx="3474720" cy="14813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295144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FY2026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551176"/>
            <a:ext cx="3145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$98.4B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127248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same series · S02; 3 adds independent 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148840"/>
            <a:ext cx="3474720" cy="14813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295144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OF 2025 OFFICE-ABSORPTION IS GCCS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551176"/>
            <a:ext cx="3145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39%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3127248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CBRE leasing records · S20/S22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86200"/>
            <a:ext cx="11183112" cy="23957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7899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2DD4BF"/>
                </a:solidFill>
                <a:latin typeface="Calibri"/>
              </a:rPr>
              <a:t>▪  </a:t>
            </a:r>
            <a:r>
              <a:rPr sz="1300" b="1">
                <a:solidFill>
                  <a:srgbClr val="2DD4BF"/>
                </a:solidFill>
                <a:latin typeface="Calibri"/>
              </a:rPr>
              <a:t>8+ state policies in 8+ formats. </a:t>
            </a:r>
            <a:r>
              <a:rPr sz="1300">
                <a:solidFill>
                  <a:srgbClr val="94A3B8"/>
                </a:solidFill>
                <a:latin typeface="Calibri"/>
              </a:rPr>
              <a:t>Karnataka, TN, UP, Gujarat, Kerala… each publish subsidy tables in different shapes (payroll %, land subsidy, stamp duty, OPEX caps) — normalizing them is manual analyst work (S05–S19).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2DD4BF"/>
                </a:solidFill>
                <a:latin typeface="Calibri"/>
              </a:rPr>
              <a:t>▪  </a:t>
            </a:r>
            <a:r>
              <a:rPr sz="1300" b="1">
                <a:solidFill>
                  <a:srgbClr val="2DD4BF"/>
                </a:solidFill>
                <a:latin typeface="Calibri"/>
              </a:rPr>
              <a:t>Counting regimes conflict. </a:t>
            </a:r>
            <a:r>
              <a:rPr sz="1300">
                <a:solidFill>
                  <a:srgbClr val="94A3B8"/>
                </a:solidFill>
                <a:latin typeface="Calibri"/>
              </a:rPr>
              <a:t>2,117 GCCs / $98.4B (Nasscom–Zinnov, S02) vs "$164B / 4.2M jobs" (Wizmatic via Statesman, S04 — low-confidence definitional outlier, registered as a conflict, never averaged).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2DD4BF"/>
                </a:solidFill>
                <a:latin typeface="Calibri"/>
              </a:rPr>
              <a:t>▪  </a:t>
            </a:r>
            <a:r>
              <a:rPr sz="1300" b="1">
                <a:solidFill>
                  <a:srgbClr val="2DD4BF"/>
                </a:solidFill>
                <a:latin typeface="Calibri"/>
              </a:rPr>
              <a:t>The comparison is done by consultants on 3–6-week cycles.</a:t>
            </a:r>
            <a:r>
              <a:rPr sz="1300">
                <a:solidFill>
                  <a:srgbClr val="94A3B8"/>
                </a:solidFill>
                <a:latin typeface="Calibri"/>
              </a:rPr>
              <a:t>A build-vs-lease decision uses brokerage PDFs + press releases + Excel (S01, S24); a defensible shortlist with citations can take weeks to assemble.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2DD4BF"/>
                </a:solidFill>
                <a:latin typeface="Calibri"/>
              </a:rPr>
              <a:t>▪  </a:t>
            </a:r>
            <a:r>
              <a:rPr sz="1300" b="1">
                <a:solidFill>
                  <a:srgbClr val="2DD4BF"/>
                </a:solidFill>
                <a:latin typeface="Calibri"/>
              </a:rPr>
              <a:t>Source quality varies wildly. </a:t>
            </a:r>
            <a:r>
              <a:rPr sz="1300">
                <a:solidFill>
                  <a:srgbClr val="94A3B8"/>
                </a:solidFill>
                <a:latin typeface="Calibri"/>
              </a:rPr>
              <a:t>DIY city directories contain row-level coding mistakes (GCC Village: ~473 Hyderabad vs ~100 Bengaluru rows, S35) that can misinform a location 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276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Everything above is cited; no market-size figure on this slide is our own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STAKEHOLDERS (composite personas, evidence-based)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Who feels the information asymmetry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2114092" cy="256032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4228"/>
            <a:ext cx="21140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PRIMARY — designed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1FC"/>
                </a:solidFill>
                <a:latin typeface="Calibri"/>
              </a:rPr>
              <a:t>Priya Raman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Location-strategy lead, MNC expansion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Translates headcount mandate → city criteria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Needs ranked prospects w/ talent + cost + subsidy facts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Must defend the shortlist to CFO + consultants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Fears "why is this number different?" in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Basis: 64% of GCC space take-up by her class of buyer (S20,S21); UK/US firms drive 37–45% of India office absorption (S24). Composites; no interviews.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002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810512"/>
            <a:ext cx="1762963" cy="256032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824228"/>
            <a:ext cx="17629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secondary — 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1284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1FC"/>
                </a:solidFill>
                <a:latin typeface="Calibri"/>
              </a:rPr>
              <a:t>Rakesh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7860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State investment-promotion (IPA)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60A5FA"/>
                </a:solidFill>
                <a:latin typeface="Calibri"/>
              </a:rPr>
              <a:t>▪  </a:t>
            </a:r>
            <a:r>
              <a:rPr sz="1100" b="1">
                <a:solidFill>
                  <a:srgbClr val="60A5FA"/>
                </a:solidFill>
                <a:latin typeface="Calibri"/>
              </a:rPr>
              <a:t>Competes vs peer states with numbers, not slogans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60A5FA"/>
                </a:solidFill>
                <a:latin typeface="Calibri"/>
              </a:rPr>
              <a:t>▪  </a:t>
            </a:r>
            <a:r>
              <a:rPr sz="1100" b="1">
                <a:solidFill>
                  <a:srgbClr val="60A5FA"/>
                </a:solidFill>
                <a:latin typeface="Calibri"/>
              </a:rPr>
              <a:t>Wants a shareable neutral page for prospects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60A5FA"/>
                </a:solidFill>
                <a:latin typeface="Calibri"/>
              </a:rPr>
              <a:t>▪  </a:t>
            </a:r>
            <a:r>
              <a:rPr sz="1100" b="1">
                <a:solidFill>
                  <a:srgbClr val="60A5FA"/>
                </a:solidFill>
                <a:latin typeface="Calibri"/>
              </a:rPr>
              <a:t>Fears third-party tables painting the state unfairly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62356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Basis: 8+ states run GCC-acquisition playbooks with published targets (S05,S10,S13,S16). Secondary persona — distribution catalyst in v1.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60020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19" y="1810512"/>
            <a:ext cx="1762963" cy="256032"/>
          </a:xfrm>
          <a:prstGeom prst="roundRect">
            <a:avLst>
              <a:gd name="adj" fmla="val 8000"/>
            </a:avLst>
          </a:prstGeom>
          <a:solidFill>
            <a:srgbClr val="F47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1824228"/>
            <a:ext cx="17629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secondary — 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21284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1FC"/>
                </a:solidFill>
                <a:latin typeface="Calibri"/>
              </a:rPr>
              <a:t>Maya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57860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Provider / enabler BD lead (RE, legal, staffing)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200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F4728B"/>
                </a:solidFill>
                <a:latin typeface="Calibri"/>
              </a:rPr>
              <a:t>▪  </a:t>
            </a:r>
            <a:r>
              <a:rPr sz="1100" b="1">
                <a:solidFill>
                  <a:srgbClr val="F4728B"/>
                </a:solidFill>
                <a:latin typeface="Calibri"/>
              </a:rPr>
              <a:t>Wants ready-to-engage demand signals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F4728B"/>
                </a:solidFill>
                <a:latin typeface="Calibri"/>
              </a:rPr>
              <a:t>▪  </a:t>
            </a:r>
            <a:r>
              <a:rPr sz="1100" b="1">
                <a:solidFill>
                  <a:srgbClr val="F4728B"/>
                </a:solidFill>
                <a:latin typeface="Calibri"/>
              </a:rPr>
              <a:t>Currently pays $3.5K–$10K for lead surfaces (S30)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>
                <a:solidFill>
                  <a:srgbClr val="F4728B"/>
                </a:solidFill>
                <a:latin typeface="Calibri"/>
              </a:rPr>
              <a:t>▪  </a:t>
            </a:r>
            <a:r>
              <a:rPr sz="1100" b="1">
                <a:solidFill>
                  <a:srgbClr val="F4728B"/>
                </a:solidFill>
                <a:latin typeface="Calibri"/>
              </a:rPr>
              <a:t>v1 gives her nothing to pay for — trust cultivated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562356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Basis: GCC Explorer monetizes exactly this class (S30); AIM watchlists purchased by this class (S32).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Anti-personas by design: job-seekers (no JTBD) and competitor scrapers. Everything persona-labelled as [inference] through Phase-3 validation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COMPETITIVE LANDSCAPE (verified, S30–S38)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Current workarounds and where they 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486400" cy="19385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Calibri"/>
              </a:rPr>
              <a:t>GCC Explorer (AIM Research)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1,680+ GCC directory, daily analyst updates, contacts, watchlists. $3,500–$10,000 per seat cycle; free tier = 15 companies (S30/S31/S32).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52928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916936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50" b="0" i="0">
                <a:solidFill>
                  <a:srgbClr val="EAF1FC"/>
                </a:solidFill>
                <a:latin typeface="Calibri"/>
              </a:rPr>
              <a:t>Not a city-DECISION tool: no policy-incentive normalization, no side-by-side compare with counting denominators (S30 pages reviewed).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72768"/>
            <a:ext cx="5486400" cy="19385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00784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1FC"/>
                </a:solidFill>
                <a:latin typeface="Calibri"/>
              </a:rPr>
              <a:t>Consultancies (CBRE/JLL/Zinnov)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29967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Authoritative bespoke decks; mandates; human nuance (S01, S20–S24).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52928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16936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50" b="0" i="0">
                <a:solidFill>
                  <a:srgbClr val="EAF1FC"/>
                </a:solidFill>
                <a:latin typeface="Calibri"/>
              </a:rPr>
              <a:t>Time + fees; 3–6 week cycles; not self-serve at session speed.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5486400" cy="19385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85615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1FC"/>
                </a:solidFill>
                <a:latin typeface="Calibri"/>
              </a:rPr>
              <a:t>State portals + PIB PDFs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Primary-source truth; free (S05–S19).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3776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001768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50" b="0" i="0">
                <a:solidFill>
                  <a:srgbClr val="EAF1FC"/>
                </a:solidFill>
                <a:latin typeface="Calibri"/>
              </a:rPr>
              <a:t>8+ formats; conflicting denominators; normalization is analyst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57600"/>
            <a:ext cx="5486400" cy="193852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85615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1FC"/>
                </a:solidFill>
                <a:latin typeface="Calibri"/>
              </a:rPr>
              <a:t>DIY directories (GCC Village et al.)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Free coverage slices (S35–S37).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6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5001768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50" b="0" i="0">
                <a:solidFill>
                  <a:srgbClr val="EAF1FC"/>
                </a:solidFill>
                <a:latin typeface="Calibri"/>
              </a:rPr>
              <a:t>Row-level coding inconsistencies (S35); unverified; no provenance.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White space we occupy: </a:t>
            </a:r>
            <a:r>
              <a:rPr sz="1250" b="0" i="0">
                <a:solidFill>
                  <a:srgbClr val="EAF1FC"/>
                </a:solidFill>
                <a:latin typeface="Calibri"/>
              </a:rPr>
              <a:t>a free, provenance-linked city-vs-city comparison layer with explicit counting denominators — no verified analog exists across the scanned landscape.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SCORING (research/opportunity-prioritization.md)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Opportunity map and prioritization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422" y="2177735"/>
            <a:ext cx="686583" cy="29611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278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O2 City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135" y="2122871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010" y="2245034"/>
            <a:ext cx="686583" cy="289389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1867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O1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3723" y="2190170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3599" y="2345984"/>
            <a:ext cx="686583" cy="279294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O3 Policy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7312" y="2291120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7188" y="2716133"/>
            <a:ext cx="686583" cy="2422794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9044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O5 Comp bands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901" y="2661269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0776" y="2918033"/>
            <a:ext cx="686583" cy="2220894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2633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O4 Watchlist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4489" y="2863169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4365" y="3052632"/>
            <a:ext cx="686583" cy="2086295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6221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O7 AI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8078" y="2997768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7953" y="4196730"/>
            <a:ext cx="686583" cy="942197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9810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O6 Contacts resale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666" y="4141866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1.40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4068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Scores = weighted TAM / underservedness / public-data feasibility / prototype fit / risk (weights 20/30/25/15/10). Method + rubric documented in research/opportunity-prioritization.md.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463040"/>
            <a:ext cx="4233672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62763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DD4BF"/>
                </a:solidFill>
                <a:latin typeface="Calibri"/>
              </a:rPr>
              <a:t>WINNER: O2 — the decision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011680"/>
            <a:ext cx="38862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City atlas + location-comparison </a:t>
            </a:r>
            <a:r>
              <a:rPr sz="1050">
                <a:solidFill>
                  <a:srgbClr val="94A3B8"/>
                </a:solidFill>
                <a:latin typeface="Calibri"/>
              </a:rPr>
              <a:t>is the most underserved, most buildable surface (O2 score 4.40).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O1 directory and O3 policy tracker ship as </a:t>
            </a:r>
            <a:r>
              <a:rPr sz="1050">
                <a:solidFill>
                  <a:srgbClr val="94A3B8"/>
                </a:solidFill>
                <a:latin typeface="Calibri"/>
              </a:rPr>
              <a:t>supporting modules inside it.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Deliberately excluded: </a:t>
            </a:r>
            <a:r>
              <a:rPr sz="1050">
                <a:solidFill>
                  <a:srgbClr val="94A3B8"/>
                </a:solidFill>
                <a:latin typeface="Calibri"/>
              </a:rPr>
              <a:t>contact-data resale (O6: name/legal risk, S38), watchlists/O4 (needs live ingestion infrastructure), comp-band library (O5: licensing cost, Phase-3 candidate).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Falsification path: </a:t>
            </a:r>
            <a:r>
              <a:rPr sz="1050">
                <a:solidFill>
                  <a:srgbClr val="94A3B8"/>
                </a:solidFill>
                <a:latin typeface="Calibri"/>
              </a:rPr>
              <a:t>if a real expansion desk says a one-week spreadsheet solves it, we pivot to O4 (documented in research §6).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PRIMARY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Initial target customer and the job to be done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Job statement (from primary persona)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49560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EAF1FC"/>
                </a:solidFill>
                <a:latin typeface="Calibri"/>
              </a:rPr>
              <a:t>“Compare candidate cities for a new GCC — talent, policies, real-estate cost and sector peers — for a specific function, with every number carrying its counting denominator and its source.”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525780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JTBD 1 — Frame: </a:t>
            </a:r>
            <a:r>
              <a:rPr sz="1150">
                <a:solidFill>
                  <a:srgbClr val="94A3B8"/>
                </a:solidFill>
                <a:latin typeface="Calibri"/>
              </a:rPr>
              <a:t>mandate → city criteria (function, tier, cost ceiling).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JTBD 2 — Shortlist: </a:t>
            </a:r>
            <a:r>
              <a:rPr sz="1150">
                <a:solidFill>
                  <a:srgbClr val="94A3B8"/>
                </a:solidFill>
                <a:latin typeface="Calibri"/>
              </a:rPr>
              <a:t>ranked candidates with facts (talent, rent, subsidy).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JTBD 3 — Defend: </a:t>
            </a:r>
            <a:r>
              <a:rPr sz="1150">
                <a:solidFill>
                  <a:srgbClr val="94A3B8"/>
                </a:solidFill>
                <a:latin typeface="Calibri"/>
              </a:rPr>
              <a:t>comparison survives CFO + consultant scrutiny, cited.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JTBD 4 — Act: </a:t>
            </a:r>
            <a:r>
              <a:rPr sz="1150">
                <a:solidFill>
                  <a:srgbClr val="94A3B8"/>
                </a:solidFill>
                <a:latin typeface="Calibri"/>
              </a:rPr>
              <a:t>know exactly which IPA contact / subsidy applies (TN 30/20/10% payroll bands S06; UP ₹20,000/fresher S10).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49240" cy="4663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Why this segment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Documented demand density: </a:t>
            </a:r>
            <a:r>
              <a:rPr sz="1150">
                <a:solidFill>
                  <a:srgbClr val="94A3B8"/>
                </a:solidFill>
                <a:latin typeface="Calibri"/>
              </a:rPr>
              <a:t>US/global firms drove 37–45% of recent office absorption; this class pays for location intelligence (CBRE/JLL advisory hours, S20–S24; GCC Explorer $3.5K–$10K, S30).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Worst information-workflow fit: </a:t>
            </a:r>
            <a:r>
              <a:rPr sz="1150">
                <a:solidFill>
                  <a:srgbClr val="94A3B8"/>
                </a:solidFill>
                <a:latin typeface="Calibri"/>
              </a:rPr>
              <a:t>8+ policy formats + conflicting market counts = exactly the asymmetry documented in market-research §2–3.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Reachable for validation </a:t>
            </a:r>
            <a:r>
              <a:rPr sz="1150">
                <a:solidFill>
                  <a:srgbClr val="94A3B8"/>
                </a:solidFill>
                <a:latin typeface="Calibri"/>
              </a:rPr>
              <a:t>via IPA relationships + expansion-team desks (both self-identify publicly) [inference].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2DD4BF"/>
                </a:solidFill>
                <a:latin typeface="Calibri"/>
              </a:rPr>
              <a:t>▪  </a:t>
            </a:r>
            <a:r>
              <a:rPr sz="1150" b="1">
                <a:solidFill>
                  <a:srgbClr val="2DD4BF"/>
                </a:solidFill>
                <a:latin typeface="Calibri"/>
              </a:rPr>
              <a:t>Acceptance is measurable: </a:t>
            </a:r>
            <a:r>
              <a:rPr sz="1150">
                <a:solidFill>
                  <a:srgbClr val="94A3B8"/>
                </a:solidFill>
                <a:latin typeface="Calibri"/>
              </a:rPr>
              <a:t>M1 time-to-answer metric is instrumentable end-to-end.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5440680"/>
            <a:ext cx="4220870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454396"/>
            <a:ext cx="422087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[inference] items bound for Phase-3 interviews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WHAT IS BUILT (running prototype)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The product and its differentiated value proposition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91056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EAF1FC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2DD4BF"/>
                </a:solidFill>
                <a:latin typeface="Calibri"/>
              </a:rPr>
              <a:t>One line: </a:t>
            </a:r>
            <a:r>
              <a:rPr sz="1350" b="0" i="0">
                <a:solidFill>
                  <a:srgbClr val="EAF1FC"/>
                </a:solidFill>
                <a:latin typeface="Calibri"/>
              </a:rPr>
              <a:t>evidence-first India GCC location intelligence — the decision layer above directories, below bespoke consulting ("free to look, defensible to reuse").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450591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City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8892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12 tracked cities × 6+ metrics; side-by-side compare of 2–4 cities w/ metric definitions, units and EST flags.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904487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dataset: tracked records only (scope-labelled)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33172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450591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Policy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78892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State incentives normalized vs source G.O.s; draft/final states distinct; "not yet tracked" ≠ 0 (Kerala dual targets co-labelled, S16 vs S18).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33172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50591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Provenance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78892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46 GCC records, 36 sources; every figure → source chip → publisher, URL, pub date, verification date, confidence.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904487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seed linter fails a build on sourceless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4622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Cited AI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480060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Retrieval-pack answers; only retrieved evidence may be cited; hallucinated ids stripped (tested); recommendations separated, basis-labelled; declines when evidence is thin.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916168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demo mode composes deterministically without a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434340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44622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Saved research + 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80060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Session-scoped server-side persistence (cross-session isolation tested); share links; CSV export.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4343400"/>
            <a:ext cx="3630168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44622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Event instrumentation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4800600"/>
            <a:ext cx="33467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PRD §3.5 catalog (search, detail_view, compare_create, source_click, export, saved_create…) — hashed session keys; aggregate admin.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All coverage claims are dataset-scope-labelled; the app never claims the 2,117 national count as its own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SCREENSHOTS (headless-browser captures of the running build)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Product walkthrough — genuine prototype captures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6903720" cy="2596896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72184"/>
            <a:ext cx="6757416" cy="2139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72" y="3730752"/>
            <a:ext cx="67574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Compare Workspace: Bengaluru vs Pune — EST flags, metric definitions, provenance chips, save/copy-link.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4142232" cy="2596896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ssistant-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1472184"/>
            <a:ext cx="3995928" cy="2139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6952" y="3730752"/>
            <a:ext cx="3995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Assistant: structured, cited answer (demo mode).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6903720" cy="230428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215383"/>
            <a:ext cx="6757416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" y="6181344"/>
            <a:ext cx="67574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Sources: publisher, confidence, verification date + reverse "where used" per 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160520"/>
            <a:ext cx="4142232" cy="2304288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4215383"/>
            <a:ext cx="3995928" cy="18470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16952" y="6181344"/>
            <a:ext cx="3995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Dashboard: dataset-scope counters + verification ledger.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GO-TO-MARKET SEQUENCING [most steps are hypotheses]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Positioning and stakeholder adoption strategy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Category we aim to create: </a:t>
            </a:r>
            <a:r>
              <a:rPr sz="1250" b="0" i="0">
                <a:solidFill>
                  <a:srgbClr val="EAF1FC"/>
                </a:solidFill>
                <a:latin typeface="Calibri"/>
              </a:rPr>
              <a:t>"evidence-first India GCC location intelligence" — decision layer above directories, below bespoke consulting. We never out-claim Nasscom–Zinnov/CBRE; their data is our source of record (competitive-landscape §4).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3630168" cy="2377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1. IPAs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331012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Free, cited compare links let state IPAs position themselves fairly vs peer states — they become our distribution catalysts (no engine gas needed, S05–S19; S12 shows IPAs actively pitch at NASSCOM events).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514600"/>
            <a:ext cx="3630168" cy="2377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2. Providers 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3090672"/>
            <a:ext cx="331012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Provider/BD leads verify claims pre-meeting (this class already pays $3.5K–$10K for similar surfaces, S30 — awareness follows the free tier).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514600"/>
            <a:ext cx="3630168" cy="2377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3. Expansion desks adopt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090672"/>
            <a:ext cx="331012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Priya-style desks self-serve pre-work, arrive at consultant conversations evidence-armed; conversion to paid only AFTER free-tier trust (M1/M3 instrumented).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9379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What we deliberately DON’T do: </a:t>
            </a:r>
            <a:r>
              <a:rPr sz="1200" b="0" i="0">
                <a:solidFill>
                  <a:srgbClr val="EAF1FC"/>
                </a:solidFill>
                <a:latin typeface="Calibri"/>
              </a:rPr>
              <a:t>no paid ranking anywhere facts are shown (trust contract), no bulk contact-data resale (O6, name/legal risk S38), no interviews implied in any deck claim (Phase-3 validates all [inference] tags).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ALL PRICING = [proposal], UNVALIDATED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Business-model hypotheses and go-to-market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36776"/>
            <a:ext cx="1938528" cy="256032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50492"/>
            <a:ext cx="19385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H1 · Free core (now)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City compare + policy matrix + source register stay free. Reputation density is the wedge; paying for data pre-trust kills it (business-model §1).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8640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636776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5049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H2 · Pro seats [proposal]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84248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$99–$199/yr individual; $500–$2,000/yr teams of 3–5 — anchored at 3–6% of the market compar’s $3.5K–$10K cycles (S30). Gate: free-tier traction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19272"/>
            <a:ext cx="548640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8"/>
            <a:ext cx="2201875" cy="256032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61004"/>
            <a:ext cx="2201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H4 · Reports [proposal]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Free quarterly standard; $299–$499 thematic deep-dives once publishing muscle exists (market precedent: free quarterly exists S31; historic $9,999 static lists S33).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19272"/>
            <a:ext cx="548640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447288"/>
            <a:ext cx="3079699" cy="256032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61004"/>
            <a:ext cx="307969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Calibri"/>
              </a:rPr>
              <a:t>H5 · Provider verified [proposal]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$199–$499/yr verified-profile attributes only — zero influence on rankings/answers; banned-paid-ranking is a standing product rule (business-model §4).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12080"/>
            <a:ext cx="11183112" cy="1005840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21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2DD4BF"/>
                </a:solidFill>
                <a:latin typeface="Calibri"/>
              </a:rPr>
              <a:t>GTM hypotheses [proposal, no spend]: </a:t>
            </a:r>
            <a:r>
              <a:rPr sz="1150" b="0" i="0">
                <a:solidFill>
                  <a:srgbClr val="EAF1FC"/>
                </a:solidFill>
                <a:latin typeface="Calibri"/>
              </a:rPr>
              <a:t>content-catalyst loop (share links) + expansion-desk outreach + token funnel metrics (M3 search→detail ≥40%; M1 median &lt;10 min — BOTH are unvalidated targets until Phase 3 instrumentation reports).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GUARDRAILS THE BUILD ACTUALLY ENFORCES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Data trust, AI reliability, risks and success metrics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Trust contract (enforced in code, not just values)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Every figure sourced: </a:t>
            </a:r>
            <a:r>
              <a:rPr sz="1100">
                <a:solidFill>
                  <a:srgbClr val="94A3B8"/>
                </a:solidFill>
                <a:latin typeface="Calibri"/>
              </a:rPr>
              <a:t>seed linter FAILS the build on a sourceless value (F6); provenance chips on all numeric surfaces.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Denominators labelled: </a:t>
            </a:r>
            <a:r>
              <a:rPr sz="1100">
                <a:solidFill>
                  <a:srgbClr val="94A3B8"/>
                </a:solidFill>
                <a:latin typeface="Calibri"/>
              </a:rPr>
              <a:t>"GCCs, parent vs units" named at every count (S01/S02-style conflict rendered, never averaged).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Conflicts co-shown: </a:t>
            </a:r>
            <a:r>
              <a:rPr sz="1100">
                <a:solidFill>
                  <a:srgbClr val="94A3B8"/>
                </a:solidFill>
                <a:latin typeface="Calibri"/>
              </a:rPr>
              <a:t>$98.4B (S02) vs $164B (S04) both visible, flagged as contested.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Missing ≠ zero: </a:t>
            </a:r>
            <a:r>
              <a:rPr sz="1100">
                <a:solidFill>
                  <a:srgbClr val="94A3B8"/>
                </a:solidFill>
                <a:latin typeface="Calibri"/>
              </a:rPr>
              <a:t>"not yet tracked", draft policies flagged; placeholder sources labelled "stale".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AI cites or declines: </a:t>
            </a:r>
            <a:r>
              <a:rPr sz="1100">
                <a:solidFill>
                  <a:srgbClr val="94A3B8"/>
                </a:solidFill>
                <a:latin typeface="Calibri"/>
              </a:rPr>
              <a:t>only retrieved evidence citable; unknown citation ids stripped in tests; insufficiency is an honest low-confidence path; recommendations never blended into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81328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Risks + metrics (targets are [proposals])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Coverage honesty: </a:t>
            </a:r>
            <a:r>
              <a:rPr sz="1100">
                <a:solidFill>
                  <a:srgbClr val="94A3B8"/>
                </a:solidFill>
                <a:latin typeface="Calibri"/>
              </a:rPr>
              <a:t>46-company tracked subset; never billed as "all 2,117 GCCs" (S02/S30 context).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Name collision: </a:t>
            </a:r>
            <a:r>
              <a:rPr sz="1100">
                <a:solidFill>
                  <a:srgbClr val="94A3B8"/>
                </a:solidFill>
                <a:latin typeface="Calibri"/>
              </a:rPr>
              <a:t>gcc-atlas.com exists (S38) — working-title label everywhere; trademark check is a Phase-3 gate.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Data freshness: </a:t>
            </a:r>
            <a:r>
              <a:rPr sz="1100">
                <a:solidFill>
                  <a:srgbClr val="94A3B8"/>
                </a:solidFill>
                <a:latin typeface="Calibri"/>
              </a:rPr>
              <a:t>verify-by dates shown; manual re-verification pass scheduled at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24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224528"/>
            <a:ext cx="4343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Time-to-answer &lt; 10 min [proposal]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7548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754880"/>
            <a:ext cx="4343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100% of displayed figures carry sources (hard invariant); assistant ≥95% answered w/ ≥1 citation [proposal]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8523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285232"/>
            <a:ext cx="4343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Search→detail ≥40% [proposal]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815583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M4-M6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815583"/>
            <a:ext cx="4343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compare/assistant/provider engagement + no-paid-ranking guardrail countermetrics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PHASE GATES (product/roadmap.md)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AF1FC"/>
                </a:solidFill>
                <a:latin typeface="Calibri"/>
              </a:rPr>
              <a:t>Roadmap, prototype and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16736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55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630168" cy="30175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Phase 2 — DONE: working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12848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Research → strategy → full build (Phases 1–8)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Retrieval→citation pipeline + demo fallback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Rate limits, events, session ACL, QA report (94+14 tests green)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Deployment guide + render.yaml + this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508760"/>
            <a:ext cx="3630168" cy="30175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3" y="1673352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60A5FA"/>
                </a:solidFill>
                <a:latin typeface="Calibri"/>
              </a:rPr>
              <a:t>Phase 3 — validation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212848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0→1 interviews to replace [inference] tags (5+ expansion desks, 2+ IPAs)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Re-calibrate M1/M3 targets from real funnel data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Trademark check (S38) → rename-or-keep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08760"/>
            <a:ext cx="3630168" cy="30175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9525">
            <a:solidFill>
              <a:srgbClr val="3B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673352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B558A"/>
                </a:solidFill>
                <a:latin typeface="Calibri"/>
              </a:rPr>
              <a:t>Phase 4 — paid options (gated)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212848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H2 seats only after free-traction gate; H3 workspaces; H5 provider profiles under neutrality rules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2DD4BF"/>
                </a:solidFill>
                <a:latin typeface="Calibri"/>
              </a:rPr>
              <a:t>▪  </a:t>
            </a:r>
            <a:r>
              <a:rPr sz="1000" b="1">
                <a:solidFill>
                  <a:srgbClr val="2DD4BF"/>
                </a:solidFill>
                <a:latin typeface="Calibri"/>
              </a:rPr>
              <a:t>Monitoring layer F17 if O2 survives falsification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The bet, honestly framed: </a:t>
            </a:r>
            <a:r>
              <a:rPr sz="1250" b="0" i="0">
                <a:solidFill>
                  <a:srgbClr val="EAF1FC"/>
                </a:solidFill>
                <a:latin typeface="Calibri"/>
              </a:rPr>
              <a:t>the market is undeniably real and growing; the intelligence layer above it is fragmented and expensive; a discipline-first free comparator is buildable and differentiated. What we have NOT proven: demand (no interviews), willingness-to-pay (proposals only), and defensibility against a fast follower. Every one of those is instrumented to be falsifiable in Phase 3 — which is the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4476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Prototype + demo script: deployment/demo-walkthrough.md · QA evidence: qa/quality-report.md · Full evidence register: research/source-register.csv · Deck sources: product/deck-evidence-sources.md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