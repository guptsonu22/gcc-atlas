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FLEXIPLE PRODUCT INTERN ASSIGNMENT · PRE-ALPHA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EAF1FC"/>
                </a:solidFill>
                <a:latin typeface="Calibri"/>
              </a:rPr>
              <a:t>GCC Atlas — India’s GCC ecosystem, made searchable.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94A3B8"/>
                </a:solidFill>
                <a:latin typeface="Calibri"/>
              </a:rPr>
              <a:t>Provenance-first city, policy and company comparison for India capability-centre decisions:
every number carries its source, its date, and its counting denominator.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05072"/>
            <a:ext cx="3705148" cy="23774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023359"/>
            <a:ext cx="35588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WORKING TITLE — name collision flagged (S38)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005072"/>
            <a:ext cx="4187951" cy="23774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4023359"/>
            <a:ext cx="4041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COMPOSITES FROM EVIDENCE — NO INTERVIEWS CONDUCTED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6542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GCCS (PARENT-LEVEL)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892040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2,117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54681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FY2026 · S01/S02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526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46542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GCC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4892040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3,728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54681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FY2026 · S01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526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46542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OF 2025 OFFICE ABSORPTION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892040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4681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CBRE · S20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526280"/>
            <a:ext cx="2578608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4654296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GCC REVENUE FY26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4892040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$98.4B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54681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Nasscom–Zinnov · S02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64748B"/>
                </a:solidFill>
                <a:latin typeface="Calibri"/>
              </a:rPr>
              <a:t>Prototype runs from repo: `npm run setup &amp;&amp; npm run seed &amp;&amp; npm run dev:api` + `npm run dev:web` · Walkthrough: deployment/demo-walkthrough.md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PROBLEM CONTEXT &amp; MARKET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The problem: fragmented intelligence, costly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94A3B8"/>
                </a:solidFill>
                <a:latin typeface="Calibri"/>
              </a:rPr>
              <a:t>India’s GCC ecosystem is large, fast and definitionally messy — the decision layer above company directories is nowhere assembled.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121408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GCCS PARENT-LEVEL FY2026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359152"/>
            <a:ext cx="3346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2,117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935224"/>
            <a:ext cx="3346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Nasscom–Zinnov · S01/S02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993392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121408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FY2026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359152"/>
            <a:ext cx="3346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$98.4B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935224"/>
            <a:ext cx="3346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same series · S02; 3 adds independent 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6" y="1993392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121408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OF 2025 OFFICE-ABSORPTION IS GCCS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359152"/>
            <a:ext cx="334670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2DD4BF"/>
                </a:solidFill>
                <a:latin typeface="Calibri"/>
              </a:rPr>
              <a:t>39%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935224"/>
            <a:ext cx="3346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Calibri"/>
              </a:rPr>
              <a:t>CBRE leasing records · S20/S22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11183112" cy="26517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67328"/>
            <a:ext cx="1074420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2DD4BF"/>
                </a:solidFill>
                <a:latin typeface="Calibri"/>
              </a:rPr>
              <a:t>▪  </a:t>
            </a:r>
            <a:r>
              <a:rPr sz="1200" b="1">
                <a:solidFill>
                  <a:srgbClr val="2DD4BF"/>
                </a:solidFill>
                <a:latin typeface="Calibri"/>
              </a:rPr>
              <a:t>8+ state policies in 8+ formats. </a:t>
            </a:r>
            <a:r>
              <a:rPr sz="1200">
                <a:solidFill>
                  <a:srgbClr val="94A3B8"/>
                </a:solidFill>
                <a:latin typeface="Calibri"/>
              </a:rPr>
              <a:t>Karnataka, TN, UP, Gujarat, Kerala… each publish subsidy tables in different shapes (payroll %, land subsidy, stamp duty, OPEX caps) — normalizing them is manual analyst work (S05–S19).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2DD4BF"/>
                </a:solidFill>
                <a:latin typeface="Calibri"/>
              </a:rPr>
              <a:t>▪  </a:t>
            </a:r>
            <a:r>
              <a:rPr sz="1200" b="1">
                <a:solidFill>
                  <a:srgbClr val="2DD4BF"/>
                </a:solidFill>
                <a:latin typeface="Calibri"/>
              </a:rPr>
              <a:t>Counting regimes conflict. </a:t>
            </a:r>
            <a:r>
              <a:rPr sz="1200">
                <a:solidFill>
                  <a:srgbClr val="94A3B8"/>
                </a:solidFill>
                <a:latin typeface="Calibri"/>
              </a:rPr>
              <a:t>2,117 GCCs / $98.4B (Nasscom–Zinnov, S02) vs "$164B / 4.2M jobs" (Wizmatic via Statesman, S04 — low-confidence definitional outlier, registered as a conflict, never averaged).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2DD4BF"/>
                </a:solidFill>
                <a:latin typeface="Calibri"/>
              </a:rPr>
              <a:t>▪  </a:t>
            </a:r>
            <a:r>
              <a:rPr sz="1200" b="1">
                <a:solidFill>
                  <a:srgbClr val="2DD4BF"/>
                </a:solidFill>
                <a:latin typeface="Calibri"/>
              </a:rPr>
              <a:t>The comparison is done by consultants on 3–6-week cycles. </a:t>
            </a:r>
            <a:r>
              <a:rPr sz="1200">
                <a:solidFill>
                  <a:srgbClr val="94A3B8"/>
                </a:solidFill>
                <a:latin typeface="Calibri"/>
              </a:rPr>
              <a:t>A build-vs-lease decision uses brokerage PDFs + press releases + Excel (S01, S24); a defensible shortlist with citations takes weeks of analyst hours.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>
                <a:solidFill>
                  <a:srgbClr val="2DD4BF"/>
                </a:solidFill>
                <a:latin typeface="Calibri"/>
              </a:rPr>
              <a:t>▪  </a:t>
            </a:r>
            <a:r>
              <a:rPr sz="1200" b="1">
                <a:solidFill>
                  <a:srgbClr val="2DD4BF"/>
                </a:solidFill>
                <a:latin typeface="Calibri"/>
              </a:rPr>
              <a:t>Source quality varies wildly across DIY databases. </a:t>
            </a:r>
            <a:r>
              <a:rPr sz="1200">
                <a:solidFill>
                  <a:srgbClr val="94A3B8"/>
                </a:solidFill>
                <a:latin typeface="Calibri"/>
              </a:rPr>
              <a:t>DIY city directories contain row-level coding mistakes (GCC Village: ~473 Hyderabad vs ~100 Bengaluru rows, S35) that can severely misinform a location business 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Everything above is cited; no market-size figure on this slide is our own estimate. All source IDs refer to research/source-register.csv.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STAKEHOLDERS (composite personas, evidence-based)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Who feels the information asymmetry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934870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18488"/>
            <a:ext cx="17885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PRIMARY — designed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AF1FC"/>
                </a:solidFill>
                <a:latin typeface="Calibri"/>
              </a:rPr>
              <a:t>Priya Raman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0428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Location-strategy lead, MNC expansion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32918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–  </a:t>
            </a:r>
            <a:r>
              <a:rPr sz="1050" b="1">
                <a:solidFill>
                  <a:srgbClr val="2DD4BF"/>
                </a:solidFill>
                <a:latin typeface="Calibri"/>
              </a:rPr>
              <a:t>Translates global headcount mandate → Indian city criteria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–  </a:t>
            </a:r>
            <a:r>
              <a:rPr sz="1050" b="1">
                <a:solidFill>
                  <a:srgbClr val="2DD4BF"/>
                </a:solidFill>
                <a:latin typeface="Calibri"/>
              </a:rPr>
              <a:t>Needs ranked candidate cities with talent, cost &amp; subsidy facts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–  </a:t>
            </a:r>
            <a:r>
              <a:rPr sz="1050" b="1">
                <a:solidFill>
                  <a:srgbClr val="2DD4BF"/>
                </a:solidFill>
                <a:latin typeface="Calibri"/>
              </a:rPr>
              <a:t>Must defend shortlists to CFO, tax team &amp; external consultants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–  </a:t>
            </a:r>
            <a:r>
              <a:rPr sz="1050" b="1">
                <a:solidFill>
                  <a:srgbClr val="2DD4BF"/>
                </a:solidFill>
                <a:latin typeface="Calibri"/>
              </a:rPr>
              <a:t>Fears "why does your slide contradict the broker report?" in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alibri"/>
              </a:rPr>
              <a:t>Basis: 64% of GCC space take-up by her class of buyer (S20,S21); UK/US firms drive 37–45% of India office absorption (S24). Composites; no interviews conducted.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600200"/>
            <a:ext cx="1613001" cy="237744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618488"/>
            <a:ext cx="146669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secondary — 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659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AF1FC"/>
                </a:solidFill>
                <a:latin typeface="Calibri"/>
              </a:rPr>
              <a:t>Rakesh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0428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State investment-promotion (IPA)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16352"/>
            <a:ext cx="32918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38BDF8"/>
                </a:solidFill>
                <a:latin typeface="Calibri"/>
              </a:rPr>
              <a:t>–  </a:t>
            </a:r>
            <a:r>
              <a:rPr sz="1050" b="1">
                <a:solidFill>
                  <a:srgbClr val="38BDF8"/>
                </a:solidFill>
                <a:latin typeface="Calibri"/>
              </a:rPr>
              <a:t>Competes vs peer states with hard numbers, not policy slogans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38BDF8"/>
                </a:solidFill>
                <a:latin typeface="Calibri"/>
              </a:rPr>
              <a:t>–  </a:t>
            </a:r>
            <a:r>
              <a:rPr sz="1050" b="1">
                <a:solidFill>
                  <a:srgbClr val="38BDF8"/>
                </a:solidFill>
                <a:latin typeface="Calibri"/>
              </a:rPr>
              <a:t>Wants a shareable, credible neutral link for prospective investors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38BDF8"/>
                </a:solidFill>
                <a:latin typeface="Calibri"/>
              </a:rPr>
              <a:t>–  </a:t>
            </a:r>
            <a:r>
              <a:rPr sz="1050" b="1">
                <a:solidFill>
                  <a:srgbClr val="38BDF8"/>
                </a:solidFill>
                <a:latin typeface="Calibri"/>
              </a:rPr>
              <a:t>Fears third-party commercial tables painting the state unfairly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715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alibri"/>
              </a:rPr>
              <a:t>Basis: 8+ states run active GCC-acquisition playbooks with published targets (S05,S10,S13,S16). Secondary persona — distribution catalyst in v1.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41732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19" y="1600200"/>
            <a:ext cx="1613001" cy="237744"/>
          </a:xfrm>
          <a:prstGeom prst="roundRect">
            <a:avLst>
              <a:gd name="adj" fmla="val 6000"/>
            </a:avLst>
          </a:prstGeom>
          <a:solidFill>
            <a:srgbClr val="F472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1" y="1618488"/>
            <a:ext cx="146669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secondary — 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96596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AF1FC"/>
                </a:solidFill>
                <a:latin typeface="Calibri"/>
              </a:rPr>
              <a:t>Maya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04288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Provider / enabler BD lead (RE, legal, staffing)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816352"/>
            <a:ext cx="32918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F4728B"/>
                </a:solidFill>
                <a:latin typeface="Calibri"/>
              </a:rPr>
              <a:t>–  </a:t>
            </a:r>
            <a:r>
              <a:rPr sz="1050" b="1">
                <a:solidFill>
                  <a:srgbClr val="F4728B"/>
                </a:solidFill>
                <a:latin typeface="Calibri"/>
              </a:rPr>
              <a:t>Wants verified, ready-to-engage corporate demand signals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F4728B"/>
                </a:solidFill>
                <a:latin typeface="Calibri"/>
              </a:rPr>
              <a:t>–  </a:t>
            </a:r>
            <a:r>
              <a:rPr sz="1050" b="1">
                <a:solidFill>
                  <a:srgbClr val="F4728B"/>
                </a:solidFill>
                <a:latin typeface="Calibri"/>
              </a:rPr>
              <a:t>Currently pays $3.5K–$10K/year for commercial lead surfaces (S30)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>
                <a:solidFill>
                  <a:srgbClr val="F4728B"/>
                </a:solidFill>
                <a:latin typeface="Calibri"/>
              </a:rPr>
              <a:t>–  </a:t>
            </a:r>
            <a:r>
              <a:rPr sz="1050" b="1">
                <a:solidFill>
                  <a:srgbClr val="F4728B"/>
                </a:solidFill>
                <a:latin typeface="Calibri"/>
              </a:rPr>
              <a:t>v1 gives her nothing to pay for — credibility &amp; trust cultivated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5715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alibri"/>
              </a:rPr>
              <a:t>Basis: GCC Explorer monetizes exactly this class (S30); AIM watchlists purchased by this class (S32). Provider neutrality is an enforced rule.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29107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Anti-personas by design: job-seekers (no JTBD) and competitor scrapers. Everything persona-labelled as [inference] through Phase-3 validation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COMPETITIVE LANDSCAPE (verified, S30–S38)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Current workarounds and where they 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202996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4533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DD4BF"/>
                </a:solidFill>
                <a:latin typeface="Calibri"/>
              </a:rPr>
              <a:t>GCC Explorer (AIM Research)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1,680+ GCC directory, daily analyst updates, contacts, watchlists. $3,500–$10,000 per seat cycle; free tier = 15 companies (S30/S31/S32).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88920"/>
            <a:ext cx="4901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00" b="0" i="0">
                <a:solidFill>
                  <a:srgbClr val="EAF1FC"/>
                </a:solidFill>
                <a:latin typeface="Calibri"/>
              </a:rPr>
              <a:t>Not a city-DECISION tool: no policy-incentive normalization, no side-by-side compare with counting denominators (S30 pages reviewed).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486400" cy="202996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45336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AF1FC"/>
                </a:solidFill>
                <a:latin typeface="Calibri"/>
              </a:rPr>
              <a:t>Consultancies (CBRE/JLL/Zinnov)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Authoritative bespoke decks; mandates; deep local nuance (S01, S20–S24).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34056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788920"/>
            <a:ext cx="4901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00" b="0" i="0">
                <a:solidFill>
                  <a:srgbClr val="EAF1FC"/>
                </a:solidFill>
                <a:latin typeface="Calibri"/>
              </a:rPr>
              <a:t>Time + high fees; 3–6 week project cycles; not self-serve at session speed.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5486400" cy="202996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7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AF1FC"/>
                </a:solidFill>
                <a:latin typeface="Calibri"/>
              </a:rPr>
              <a:t>State portals + PIB PDFs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50791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Primary-source truth; free access (S05–S19).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10327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965192"/>
            <a:ext cx="4901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00" b="0" i="0">
                <a:solidFill>
                  <a:srgbClr val="EAF1FC"/>
                </a:solidFill>
                <a:latin typeface="Calibri"/>
              </a:rPr>
              <a:t>8+ formats; conflicting denominators; normalizing incentives is analyst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93591"/>
            <a:ext cx="5486400" cy="202996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21607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AF1FC"/>
                </a:solidFill>
                <a:latin typeface="Calibri"/>
              </a:rPr>
              <a:t>DIY directories (GCC Village et al.)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50791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Free coverage slices; open directory tables (S35–S37).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10327"/>
            <a:ext cx="5120640" cy="603504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965192"/>
            <a:ext cx="4901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Their gap: </a:t>
            </a:r>
            <a:r>
              <a:rPr sz="1000" b="0" i="0">
                <a:solidFill>
                  <a:srgbClr val="EAF1FC"/>
                </a:solidFill>
                <a:latin typeface="Calibri"/>
              </a:rPr>
              <a:t>Row-level coding inconsistencies (S35); unverified data; zero provenance links.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White space we occupy: </a:t>
            </a:r>
            <a:r>
              <a:rPr sz="1200" b="0" i="0">
                <a:solidFill>
                  <a:srgbClr val="EAF1FC"/>
                </a:solidFill>
                <a:latin typeface="Calibri"/>
              </a:rPr>
              <a:t>a free, provenance-linked city-vs-city comparison layer with explicit counting denominators — no verified analog exists across the scanned landscape.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SCORING (research/opportunity-prioritization.md)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Opportunity map and prioritization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422" y="2137501"/>
            <a:ext cx="686583" cy="300142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278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O2 City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135" y="2082637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010" y="2205715"/>
            <a:ext cx="686583" cy="293321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1867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O1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3723" y="2150851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3599" y="2308037"/>
            <a:ext cx="686583" cy="28308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O3 Policy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7312" y="2253173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4.15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7188" y="2683215"/>
            <a:ext cx="686583" cy="2455712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9044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O5 Comp bands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901" y="2628351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0776" y="2887858"/>
            <a:ext cx="686583" cy="2251069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2633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O4 Watchlist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4489" y="2832994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4365" y="3024286"/>
            <a:ext cx="686583" cy="2114641"/>
          </a:xfrm>
          <a:prstGeom prst="rect">
            <a:avLst/>
          </a:prstGeom>
          <a:solidFill>
            <a:srgbClr val="3B5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6221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O7 AI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8078" y="2969422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3.10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7953" y="4183928"/>
            <a:ext cx="686583" cy="954999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9810" y="5157216"/>
            <a:ext cx="76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O6 Contacts resale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666" y="4129064"/>
            <a:ext cx="83915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AF1FC"/>
                </a:solidFill>
                <a:latin typeface="Calibri"/>
              </a:rPr>
              <a:t>1.40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Scores = weighted TAM / underservedness / public-data feasibility / prototype fit / risk (weights 20/30/25/15/10). Method + rubric documented in research/opportunity-prioritization.md.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417320"/>
            <a:ext cx="4233672" cy="470916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1600200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WINNER: O2 — the decision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965960"/>
            <a:ext cx="38862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19">
                <a:solidFill>
                  <a:srgbClr val="2DD4BF"/>
                </a:solidFill>
                <a:latin typeface="Calibri"/>
              </a:rPr>
              <a:t>▪  </a:t>
            </a:r>
            <a:r>
              <a:rPr sz="1019" b="1">
                <a:solidFill>
                  <a:srgbClr val="2DD4BF"/>
                </a:solidFill>
                <a:latin typeface="Calibri"/>
              </a:rPr>
              <a:t>City atlas + location-comparison </a:t>
            </a:r>
            <a:r>
              <a:rPr sz="1019">
                <a:solidFill>
                  <a:srgbClr val="94A3B8"/>
                </a:solidFill>
                <a:latin typeface="Calibri"/>
              </a:rPr>
              <a:t>is the most underserved, most buildable surface (O2 score 4.40).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19">
                <a:solidFill>
                  <a:srgbClr val="2DD4BF"/>
                </a:solidFill>
                <a:latin typeface="Calibri"/>
              </a:rPr>
              <a:t>▪  </a:t>
            </a:r>
            <a:r>
              <a:rPr sz="1019" b="1">
                <a:solidFill>
                  <a:srgbClr val="2DD4BF"/>
                </a:solidFill>
                <a:latin typeface="Calibri"/>
              </a:rPr>
              <a:t>O1 directory and O3 policy tracker ship as </a:t>
            </a:r>
            <a:r>
              <a:rPr sz="1019">
                <a:solidFill>
                  <a:srgbClr val="94A3B8"/>
                </a:solidFill>
                <a:latin typeface="Calibri"/>
              </a:rPr>
              <a:t>supporting modules inside 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19">
                <a:solidFill>
                  <a:srgbClr val="2DD4BF"/>
                </a:solidFill>
                <a:latin typeface="Calibri"/>
              </a:rPr>
              <a:t>▪  </a:t>
            </a:r>
            <a:r>
              <a:rPr sz="1019" b="1">
                <a:solidFill>
                  <a:srgbClr val="2DD4BF"/>
                </a:solidFill>
                <a:latin typeface="Calibri"/>
              </a:rPr>
              <a:t>Deliberately excluded: </a:t>
            </a:r>
            <a:r>
              <a:rPr sz="1019">
                <a:solidFill>
                  <a:srgbClr val="94A3B8"/>
                </a:solidFill>
                <a:latin typeface="Calibri"/>
              </a:rPr>
              <a:t>contact-data resale (O6: name/legal risk, S38), watchlists/O4 (needs live crawler infrastructure), comp-band library (O5: licensing cost, Phase-3 candidate).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19">
                <a:solidFill>
                  <a:srgbClr val="2DD4BF"/>
                </a:solidFill>
                <a:latin typeface="Calibri"/>
              </a:rPr>
              <a:t>▪  </a:t>
            </a:r>
            <a:r>
              <a:rPr sz="1019" b="1">
                <a:solidFill>
                  <a:srgbClr val="2DD4BF"/>
                </a:solidFill>
                <a:latin typeface="Calibri"/>
              </a:rPr>
              <a:t>Falsification path: </a:t>
            </a:r>
            <a:r>
              <a:rPr sz="1019">
                <a:solidFill>
                  <a:srgbClr val="94A3B8"/>
                </a:solidFill>
                <a:latin typeface="Calibri"/>
              </a:rPr>
              <a:t>if a real expansion desk says an ad-hoc spreadsheet already solves their need, we pivot to O4 (documented in research §6).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PRIMARY SEGMENT (evidence-based composite)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Initial target customer and the job to be done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7784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Job statement (from primary persona)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93392"/>
            <a:ext cx="5212080" cy="109728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0" i="0">
                <a:solidFill>
                  <a:srgbClr val="EAF1FC"/>
                </a:solidFill>
                <a:latin typeface="Calibri"/>
              </a:rPr>
              <a:t>“Compare candidate cities for a new GCC — talent, policies, real-estate cost and sector peers — for a specific function, with every number carrying its counting denominator and its source.”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2578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JTBD 1 — Frame: </a:t>
            </a:r>
            <a:r>
              <a:rPr sz="1100">
                <a:solidFill>
                  <a:srgbClr val="94A3B8"/>
                </a:solidFill>
                <a:latin typeface="Calibri"/>
              </a:rPr>
              <a:t>translate parent company mandate → objective city criteria (function, tier, cost ceiling).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JTBD 2 — Shortlist: </a:t>
            </a:r>
            <a:r>
              <a:rPr sz="1100">
                <a:solidFill>
                  <a:srgbClr val="94A3B8"/>
                </a:solidFill>
                <a:latin typeface="Calibri"/>
              </a:rPr>
              <a:t>generate ranked candidate cities with verified facts (talent pool, Grade-A rents, subsidies).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JTBD 3 — Defend: </a:t>
            </a:r>
            <a:r>
              <a:rPr sz="1100">
                <a:solidFill>
                  <a:srgbClr val="94A3B8"/>
                </a:solidFill>
                <a:latin typeface="Calibri"/>
              </a:rPr>
              <a:t>ensure shortlists survive CFO, tax desk, and consultant scrutiny with explicit citations.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JTBD 4 — Act: </a:t>
            </a:r>
            <a:r>
              <a:rPr sz="1100">
                <a:solidFill>
                  <a:srgbClr val="94A3B8"/>
                </a:solidFill>
                <a:latin typeface="Calibri"/>
              </a:rPr>
              <a:t>identify exact IPA contacts and eligible subsidy bands (TN 30/20/10% payroll bands S06; UP ₹20k/fresher S10).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Why this segment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93392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Documented demand density: </a:t>
            </a:r>
            <a:r>
              <a:rPr sz="1100">
                <a:solidFill>
                  <a:srgbClr val="94A3B8"/>
                </a:solidFill>
                <a:latin typeface="Calibri"/>
              </a:rPr>
              <a:t>US/global firms drove 37–45% of recent office absorption; this class routinely pays for location advisory (CBRE/JLL advisory hours S20–S24; GCC Explorer $3.5K–$10K S30).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Severe workflow friction: </a:t>
            </a:r>
            <a:r>
              <a:rPr sz="1100">
                <a:solidFill>
                  <a:srgbClr val="94A3B8"/>
                </a:solidFill>
                <a:latin typeface="Calibri"/>
              </a:rPr>
              <a:t>8+ state policy formats + conflicting market counts = exactly the information asymmetry documented in market-research §2–3.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Reachable without paid ads: </a:t>
            </a:r>
            <a:r>
              <a:rPr sz="1100">
                <a:solidFill>
                  <a:srgbClr val="94A3B8"/>
                </a:solidFill>
                <a:latin typeface="Calibri"/>
              </a:rPr>
              <a:t>via state IPA relationships + public expansion-team leadership desks [inference].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2DD4BF"/>
                </a:solidFill>
                <a:latin typeface="Calibri"/>
              </a:rPr>
              <a:t>▪  </a:t>
            </a:r>
            <a:r>
              <a:rPr sz="1100" b="1">
                <a:solidFill>
                  <a:srgbClr val="2DD4BF"/>
                </a:solidFill>
                <a:latin typeface="Calibri"/>
              </a:rPr>
              <a:t>Measurable acceptance gate: </a:t>
            </a:r>
            <a:r>
              <a:rPr sz="1100">
                <a:solidFill>
                  <a:srgbClr val="94A3B8"/>
                </a:solidFill>
                <a:latin typeface="Calibri"/>
              </a:rPr>
              <a:t>M1 time-to-answer metric (&lt;10 min) is instrumentable end-to-end.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5715000"/>
            <a:ext cx="4751222" cy="23774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5733288"/>
            <a:ext cx="460491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[inference] items bound for Phase-3 validation interviews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PRODUCT WORKFLOW · RAW DATA TO BOARD-READY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From Fragmented Data to Defensible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70048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" y="1572768"/>
            <a:ext cx="727862" cy="23774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91056"/>
            <a:ext cx="5815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874519"/>
            <a:ext cx="2414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1. SCATTERED PUBLIC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414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Unstructured Raw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606040"/>
            <a:ext cx="2414015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Disparate PDF formats: </a:t>
            </a:r>
            <a:r>
              <a:rPr sz="919">
                <a:solidFill>
                  <a:srgbClr val="94A3B8"/>
                </a:solidFill>
                <a:latin typeface="Calibri"/>
              </a:rPr>
              <a:t>8+ state Government Orders (G.O.s) with incompatible subsidy structures (S05–S19).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Brokerage PDF reports: </a:t>
            </a:r>
            <a:r>
              <a:rPr sz="919">
                <a:solidFill>
                  <a:srgbClr val="94A3B8"/>
                </a:solidFill>
                <a:latin typeface="Calibri"/>
              </a:rPr>
              <a:t>Fragmented real estate asking rents and vacancy rates across CBRE, JLL, Colliers (S20–S24).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Conflicting counts: </a:t>
            </a:r>
            <a:r>
              <a:rPr sz="919">
                <a:solidFill>
                  <a:srgbClr val="94A3B8"/>
                </a:solidFill>
                <a:latin typeface="Calibri"/>
              </a:rPr>
              <a:t>Nasscom 2,117 GCCs vs Wizmatic $164B/4.2M outlier (S02 vs S04).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Friction: </a:t>
            </a:r>
            <a:r>
              <a:rPr sz="919">
                <a:solidFill>
                  <a:srgbClr val="94A3B8"/>
                </a:solidFill>
                <a:latin typeface="Calibri"/>
              </a:rPr>
              <a:t>Analysts waste 3–6 weeks hunting, copying, and reconciling unformatted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670048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65576" y="1572768"/>
            <a:ext cx="727862" cy="237744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591056"/>
            <a:ext cx="5815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1874519"/>
            <a:ext cx="2414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8BDF8"/>
                </a:solidFill>
                <a:latin typeface="Calibri"/>
              </a:rPr>
              <a:t>2. NORMALIZATION &amp; 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240280"/>
            <a:ext cx="2414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GCC Atlas Data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2606040"/>
            <a:ext cx="2414015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Unit standardization: </a:t>
            </a:r>
            <a:r>
              <a:rPr sz="919">
                <a:solidFill>
                  <a:srgbClr val="94A3B8"/>
                </a:solidFill>
                <a:latin typeface="Calibri"/>
              </a:rPr>
              <a:t>Grade-A rents normalized to INR/sqft/mo; talent pools to headcount; subsidies to uniform schemas.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Definitional labeling: </a:t>
            </a:r>
            <a:r>
              <a:rPr sz="919">
                <a:solidFill>
                  <a:srgbClr val="94A3B8"/>
                </a:solidFill>
                <a:latin typeface="Calibri"/>
              </a:rPr>
              <a:t>Every metric explicitly tagged with counting denominator (e.g. parent entities vs units).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Source hashing: </a:t>
            </a:r>
            <a:r>
              <a:rPr sz="919">
                <a:solidFill>
                  <a:srgbClr val="94A3B8"/>
                </a:solidFill>
                <a:latin typeface="Calibri"/>
              </a:rPr>
              <a:t>Immutable link to publisher, publication date, verification date, and confidence level.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Seed linter: </a:t>
            </a:r>
            <a:r>
              <a:rPr sz="919">
                <a:solidFill>
                  <a:srgbClr val="94A3B8"/>
                </a:solidFill>
                <a:latin typeface="Calibri"/>
              </a:rPr>
              <a:t>Hard code invariant halts builds if any displayed figure lacks provenance (F6).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17320"/>
            <a:ext cx="2670048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1572768"/>
            <a:ext cx="727862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1591056"/>
            <a:ext cx="5815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874519"/>
            <a:ext cx="2414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DD4BF"/>
                </a:solidFill>
                <a:latin typeface="Calibri"/>
              </a:rPr>
              <a:t>3. EXPLORATION &amp; CITATION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240280"/>
            <a:ext cx="2414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Interactive Decision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606040"/>
            <a:ext cx="2414015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Side-by-side matrix: </a:t>
            </a:r>
            <a:r>
              <a:rPr sz="919">
                <a:solidFill>
                  <a:srgbClr val="94A3B8"/>
                </a:solidFill>
                <a:latin typeface="Calibri"/>
              </a:rPr>
              <a:t>Compare 2–4 cities with explicit EST flags, metric definitions, and state policy clauses.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Bounded AI assistant: </a:t>
            </a:r>
            <a:r>
              <a:rPr sz="919">
                <a:solidFill>
                  <a:srgbClr val="94A3B8"/>
                </a:solidFill>
                <a:latin typeface="Calibri"/>
              </a:rPr>
              <a:t>RAG engine strictly constrained to retrieved evidence packs; hallucinated citation IDs stripped.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Recommendation split: </a:t>
            </a:r>
            <a:r>
              <a:rPr sz="919">
                <a:solidFill>
                  <a:srgbClr val="94A3B8"/>
                </a:solidFill>
                <a:latin typeface="Calibri"/>
              </a:rPr>
              <a:t>Factual evidence cleanly separated from strategic guidance; declines if data is thin.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Shareable sessions: </a:t>
            </a:r>
            <a:r>
              <a:rPr sz="919">
                <a:solidFill>
                  <a:srgbClr val="94A3B8"/>
                </a:solidFill>
                <a:latin typeface="Calibri"/>
              </a:rPr>
              <a:t>URL state (?ids=) and server-scoped persistence for cross-stakeholder collaboration.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417320"/>
            <a:ext cx="2670048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34856" y="1572768"/>
            <a:ext cx="727862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1591056"/>
            <a:ext cx="5815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1874519"/>
            <a:ext cx="2414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DD4BF"/>
                </a:solidFill>
                <a:latin typeface="Calibri"/>
              </a:rPr>
              <a:t>4. DEFENSIBLE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2240280"/>
            <a:ext cx="24140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Intended Outcome [Hypothesis]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2606040"/>
            <a:ext cx="2414015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3–6 weeks → 1 session: </a:t>
            </a:r>
            <a:r>
              <a:rPr sz="919">
                <a:solidFill>
                  <a:srgbClr val="94A3B8"/>
                </a:solidFill>
                <a:latin typeface="Calibri"/>
              </a:rPr>
              <a:t>Target: condense initial location shortlisting from weeks to &lt;10 minutes (M1 instrumented).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Board-ready audit trail: </a:t>
            </a:r>
            <a:r>
              <a:rPr sz="919">
                <a:solidFill>
                  <a:srgbClr val="94A3B8"/>
                </a:solidFill>
                <a:latin typeface="Calibri"/>
              </a:rPr>
              <a:t>Every cell, subsidy band, and quote carries clickable primary-source backing.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2DD4BF"/>
                </a:solidFill>
                <a:latin typeface="Calibri"/>
              </a:rPr>
              <a:t>▪  </a:t>
            </a:r>
            <a:r>
              <a:rPr sz="919" b="1">
                <a:solidFill>
                  <a:srgbClr val="2DD4BF"/>
                </a:solidFill>
                <a:latin typeface="Calibri"/>
              </a:rPr>
              <a:t>Zero broker bias: </a:t>
            </a:r>
            <a:r>
              <a:rPr sz="919">
                <a:solidFill>
                  <a:srgbClr val="94A3B8"/>
                </a:solidFill>
                <a:latin typeface="Calibri"/>
              </a:rPr>
              <a:t>Neutral comparator free of pay-to-play rankings or sponsored placements.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19">
                <a:solidFill>
                  <a:srgbClr val="F87171"/>
                </a:solidFill>
                <a:latin typeface="Calibri"/>
              </a:rPr>
              <a:t>▪  </a:t>
            </a:r>
            <a:r>
              <a:rPr sz="919" b="1">
                <a:solidFill>
                  <a:srgbClr val="F87171"/>
                </a:solidFill>
                <a:latin typeface="Calibri"/>
              </a:rPr>
              <a:t>Credibility boundary: </a:t>
            </a:r>
            <a:r>
              <a:rPr sz="919">
                <a:solidFill>
                  <a:srgbClr val="94A3B8"/>
                </a:solidFill>
                <a:latin typeface="Calibri"/>
              </a:rPr>
              <a:t>[INTENDED OUTCOME — UNVALIDATED IN PHASE 2; scheduled for Phase-3 MNC desk trials].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Workflow maps research/market-research.md to product architecture. Stage 4 outcomes are explicitly tagged as intended targets awaiting Phase-3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WHAT IS BUILT (running pre-alpha prototype)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The product and its differentiated value proposition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08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89888"/>
            <a:ext cx="11183112" cy="59436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One line: </a:t>
            </a:r>
            <a:r>
              <a:rPr sz="1300" b="0" i="0">
                <a:solidFill>
                  <a:srgbClr val="EAF1FC"/>
                </a:solidFill>
                <a:latin typeface="Calibri"/>
              </a:rPr>
              <a:t>evidence-first India GCC location intelligence — the decision layer above directories, below bespoke consulting ("free to look, defensible to reuse").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276856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City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87752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12 tracked cities × 6+ metrics; side-by-side compare of 2–4 cities w/ metric definitions, units and EST flags.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758184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dataset: tracked records only (scope-labelled)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148840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276856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Policy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587752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State incentives normalized vs source G.O.s; draft/final states distinct; "not yet tracked" ≠ 0 (Kerala dual targets co-labelled, S16 vs S18).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148840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276856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Provenance everywhere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587752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46 GCC records, 36 sources; every figure → source chip → publisher, URL, pub date, verification date,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3758184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seed linter fails build on sourceless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78808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430682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Cited AI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4617720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Retrieval-pack answers; only retrieved evidence may be cited; hallucinated IDs stripped (tested); recommendations separated; declines when thin.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5788152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demo mode composes deterministically without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4178808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30682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Saved research +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4617720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Session-scoped server-side persistence (cross-session isolation tested); shareable deep links; CSV export.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4" y="4178808"/>
            <a:ext cx="3630168" cy="1901952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430682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Event instrumentation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4617720"/>
            <a:ext cx="33467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PRD §3.5 catalog (search, detail_view, compare_create, source_click, export, saved_create…) — hashed session keys; aggregate admin.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All coverage claims are dataset-scope-labelled; the app never claims the 2,117 national count as its own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SCREENSHOTS &amp; MODULE RATIONALE (running pre-alpha build captures)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Product walkthrough — genuine prototype captures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04688" cy="239572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63040"/>
            <a:ext cx="4041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1FC"/>
                </a:solidFill>
                <a:latin typeface="Calibri"/>
              </a:rPr>
              <a:t>1. City Comparison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7" y="1463040"/>
            <a:ext cx="1371599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481328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DECISION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1737360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73936"/>
            <a:ext cx="2898648" cy="18470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66744" y="1737360"/>
            <a:ext cx="2212847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1810512"/>
            <a:ext cx="2029967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2DD4BF"/>
                </a:solidFill>
                <a:latin typeface="Calibri"/>
              </a:rPr>
              <a:t>▪  </a:t>
            </a:r>
            <a:r>
              <a:rPr sz="800" b="1">
                <a:solidFill>
                  <a:srgbClr val="2DD4BF"/>
                </a:solidFill>
                <a:latin typeface="Calibri"/>
              </a:rPr>
              <a:t>What it does: </a:t>
            </a:r>
            <a:r>
              <a:rPr sz="800">
                <a:solidFill>
                  <a:srgbClr val="94A3B8"/>
                </a:solidFill>
                <a:latin typeface="Calibri"/>
              </a:rPr>
              <a:t>Side-by-side metric matrix (talent pool, Grade-A rents, comp, infra) and normalized state incentive policies across 2–4 selected cities with shareable URL parameters and CSV export.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▪  </a:t>
            </a:r>
            <a:r>
              <a:rPr sz="800" b="1">
                <a:solidFill>
                  <a:srgbClr val="F59E0B"/>
                </a:solidFill>
                <a:latin typeface="Calibri"/>
              </a:rPr>
              <a:t>Problem: </a:t>
            </a:r>
            <a:r>
              <a:rPr sz="800">
                <a:solidFill>
                  <a:srgbClr val="94A3B8"/>
                </a:solidFill>
                <a:latin typeface="Calibri"/>
              </a:rPr>
              <a:t>Manual multi-week reconciliation across 8+ incompatible state government orders (G.O.s), brokerage PDFs, and ad-hoc analyst spreadsheets.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38BDF8"/>
                </a:solidFill>
                <a:latin typeface="Calibri"/>
              </a:rPr>
              <a:t>▪  </a:t>
            </a:r>
            <a:r>
              <a:rPr sz="800" b="1">
                <a:solidFill>
                  <a:srgbClr val="38BDF8"/>
                </a:solidFill>
                <a:latin typeface="Calibri"/>
              </a:rPr>
              <a:t>Why built this way: </a:t>
            </a:r>
            <a:r>
              <a:rPr sz="800">
                <a:solidFill>
                  <a:srgbClr val="94A3B8"/>
                </a:solidFill>
                <a:latin typeface="Calibri"/>
              </a:rPr>
              <a:t>Explicit EST flags, hoverable counting definitions, and transparent source citations ensure shortlists survive CFO and consultant scrutiny without hidden broker bias.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71600"/>
            <a:ext cx="5504688" cy="239572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463040"/>
            <a:ext cx="4041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1FC"/>
                </a:solidFill>
                <a:latin typeface="Calibri"/>
              </a:rPr>
              <a:t>2. AI Research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60152" y="1463040"/>
            <a:ext cx="1049731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33304" y="1481328"/>
            <a:ext cx="9034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BOUNDED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737360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ssistant-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773936"/>
            <a:ext cx="2898648" cy="18470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345167" y="1737360"/>
            <a:ext cx="2212847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7" y="1810512"/>
            <a:ext cx="2029967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2DD4BF"/>
                </a:solidFill>
                <a:latin typeface="Calibri"/>
              </a:rPr>
              <a:t>▪  </a:t>
            </a:r>
            <a:r>
              <a:rPr sz="800" b="1">
                <a:solidFill>
                  <a:srgbClr val="2DD4BF"/>
                </a:solidFill>
                <a:latin typeface="Calibri"/>
              </a:rPr>
              <a:t>What it does: </a:t>
            </a:r>
            <a:r>
              <a:rPr sz="800">
                <a:solidFill>
                  <a:srgbClr val="94A3B8"/>
                </a:solidFill>
                <a:latin typeface="Calibri"/>
              </a:rPr>
              <a:t>Retrieval-augmented query engine answering multi-city and expansion questions using strict local evidence packs with verified citation chips and separated recommendations.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▪  </a:t>
            </a:r>
            <a:r>
              <a:rPr sz="800" b="1">
                <a:solidFill>
                  <a:srgbClr val="F59E0B"/>
                </a:solidFill>
                <a:latin typeface="Calibri"/>
              </a:rPr>
              <a:t>Problem: </a:t>
            </a:r>
            <a:r>
              <a:rPr sz="800">
                <a:solidFill>
                  <a:srgbClr val="94A3B8"/>
                </a:solidFill>
                <a:latin typeface="Calibri"/>
              </a:rPr>
              <a:t>Generic LLM hallucinations, fabricated policy figures, and untraceable advisory recommendations in executive decision memos.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38BDF8"/>
                </a:solidFill>
                <a:latin typeface="Calibri"/>
              </a:rPr>
              <a:t>▪  </a:t>
            </a:r>
            <a:r>
              <a:rPr sz="800" b="1">
                <a:solidFill>
                  <a:srgbClr val="38BDF8"/>
                </a:solidFill>
                <a:latin typeface="Calibri"/>
              </a:rPr>
              <a:t>Why built this way: </a:t>
            </a:r>
            <a:r>
              <a:rPr sz="800">
                <a:solidFill>
                  <a:srgbClr val="94A3B8"/>
                </a:solidFill>
                <a:latin typeface="Calibri"/>
              </a:rPr>
              <a:t>Hard code invariant strips non-retrieved citation IDs, separates recommendations from factual basis, and features a deterministic demo fallback ensuring 100% auditability without third-party API keys.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5504688" cy="239572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977639"/>
            <a:ext cx="4041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1FC"/>
                </a:solidFill>
                <a:latin typeface="Calibri"/>
              </a:rPr>
              <a:t>3. Sources &amp;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1727" y="3977639"/>
            <a:ext cx="1291132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3995927"/>
            <a:ext cx="11448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AUDIT REGISTER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" y="4251960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288536"/>
            <a:ext cx="2898648" cy="184708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66744" y="4251960"/>
            <a:ext cx="2212847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3" y="4325112"/>
            <a:ext cx="2029967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2DD4BF"/>
                </a:solidFill>
                <a:latin typeface="Calibri"/>
              </a:rPr>
              <a:t>▪  </a:t>
            </a:r>
            <a:r>
              <a:rPr sz="800" b="1">
                <a:solidFill>
                  <a:srgbClr val="2DD4BF"/>
                </a:solidFill>
                <a:latin typeface="Calibri"/>
              </a:rPr>
              <a:t>What it does: </a:t>
            </a:r>
            <a:r>
              <a:rPr sz="800">
                <a:solidFill>
                  <a:srgbClr val="94A3B8"/>
                </a:solidFill>
                <a:latin typeface="Calibri"/>
              </a:rPr>
              <a:t>Comprehensive provenance registry detailing publisher, publication date, verification status, confidence rating (high/med/low), and reverse "where cited" cross-links.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▪  </a:t>
            </a:r>
            <a:r>
              <a:rPr sz="800" b="1">
                <a:solidFill>
                  <a:srgbClr val="F59E0B"/>
                </a:solidFill>
                <a:latin typeface="Calibri"/>
              </a:rPr>
              <a:t>Problem: </a:t>
            </a:r>
            <a:r>
              <a:rPr sz="800">
                <a:solidFill>
                  <a:srgbClr val="94A3B8"/>
                </a:solidFill>
                <a:latin typeface="Calibri"/>
              </a:rPr>
              <a:t>Opaque market figures, zombie statistics, and conflicting definitions (e.g. 2,117 GCC parents vs 3,728 units) with zero provenance.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38BDF8"/>
                </a:solidFill>
                <a:latin typeface="Calibri"/>
              </a:rPr>
              <a:t>▪  </a:t>
            </a:r>
            <a:r>
              <a:rPr sz="800" b="1">
                <a:solidFill>
                  <a:srgbClr val="38BDF8"/>
                </a:solidFill>
                <a:latin typeface="Calibri"/>
              </a:rPr>
              <a:t>Why built this way: </a:t>
            </a:r>
            <a:r>
              <a:rPr sz="800">
                <a:solidFill>
                  <a:srgbClr val="94A3B8"/>
                </a:solidFill>
                <a:latin typeface="Calibri"/>
              </a:rPr>
              <a:t>Establishes defensibility and user trust before monetization; automated seed linter halts builds on sourceless numeric claims.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886200"/>
            <a:ext cx="5504688" cy="239572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3977639"/>
            <a:ext cx="4041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1FC"/>
                </a:solidFill>
                <a:latin typeface="Calibri"/>
              </a:rPr>
              <a:t>4. GCC Intelligence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60152" y="3977639"/>
            <a:ext cx="1613001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33304" y="3995927"/>
            <a:ext cx="146669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ECOSYSTEM OVERVIEW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251960"/>
            <a:ext cx="2971800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288536"/>
            <a:ext cx="2898648" cy="1847088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345167" y="4251960"/>
            <a:ext cx="2212847" cy="192024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607" y="4325112"/>
            <a:ext cx="2029967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2DD4BF"/>
                </a:solidFill>
                <a:latin typeface="Calibri"/>
              </a:rPr>
              <a:t>▪  </a:t>
            </a:r>
            <a:r>
              <a:rPr sz="800" b="1">
                <a:solidFill>
                  <a:srgbClr val="2DD4BF"/>
                </a:solidFill>
                <a:latin typeface="Calibri"/>
              </a:rPr>
              <a:t>What it does: </a:t>
            </a:r>
            <a:r>
              <a:rPr sz="800">
                <a:solidFill>
                  <a:srgbClr val="94A3B8"/>
                </a:solidFill>
                <a:latin typeface="Calibri"/>
              </a:rPr>
              <a:t>High-level ecosystem overview tracking 46 verified GCCs across 12 cities and 11 sectors, paired with an active data freshness ledger and policy status tracker.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▪  </a:t>
            </a:r>
            <a:r>
              <a:rPr sz="800" b="1">
                <a:solidFill>
                  <a:srgbClr val="F59E0B"/>
                </a:solidFill>
                <a:latin typeface="Calibri"/>
              </a:rPr>
              <a:t>Problem: </a:t>
            </a:r>
            <a:r>
              <a:rPr sz="800">
                <a:solidFill>
                  <a:srgbClr val="94A3B8"/>
                </a:solidFill>
                <a:latin typeface="Calibri"/>
              </a:rPr>
              <a:t>Conflation of sampled directory records with national market census figures, leading to misleading location business cases.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800">
                <a:solidFill>
                  <a:srgbClr val="38BDF8"/>
                </a:solidFill>
                <a:latin typeface="Calibri"/>
              </a:rPr>
              <a:t>▪  </a:t>
            </a:r>
            <a:r>
              <a:rPr sz="800" b="1">
                <a:solidFill>
                  <a:srgbClr val="38BDF8"/>
                </a:solidFill>
                <a:latin typeface="Calibri"/>
              </a:rPr>
              <a:t>Why built this way: </a:t>
            </a:r>
            <a:r>
              <a:rPr sz="800">
                <a:solidFill>
                  <a:srgbClr val="94A3B8"/>
                </a:solidFill>
                <a:latin typeface="Calibri"/>
              </a:rPr>
              <a:t>Prominent dataset-scope banner and verification ledger distinguish tracked sample data from the national 2,117 universe.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27648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Calibri"/>
              </a:rPr>
              <a:t>Screenshots captured from live prototype build (Compare verified with Bengaluru 38 tracked / Karnataka policy). Module cards communicate core functional JTBD &amp; design rationale.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GO-TO-MARKET SEQUENCING [most steps are hypotheses]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Positioning and stakeholder adoption strategy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Category we aim to create: </a:t>
            </a:r>
            <a:r>
              <a:rPr sz="1200" b="0" i="0">
                <a:solidFill>
                  <a:srgbClr val="EAF1FC"/>
                </a:solidFill>
                <a:latin typeface="Calibri"/>
              </a:rPr>
              <a:t>"evidence-first India GCC location intelligence" — decision layer above directories, below bespoke consulting. We never out-claim Nasscom–Zinnov/CBRE; their data is our source of record (competitive-landscape §4).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3630168" cy="24688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1. IPAs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71800"/>
            <a:ext cx="331012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Free, cited compare links let state IPAs position themselves fairly vs peer states — they become our distribution catalysts (no ad spend needed, S05–S19; S12 shows IPAs actively pitch at NASSCOM events).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423160"/>
            <a:ext cx="3630168" cy="24688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26060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2. Providers 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971800"/>
            <a:ext cx="331012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Provider/BD leads verify market claims pre-meeting (this class already pays $3.5K–$10K for similar surfaces, S30 — organic awareness follows the free tier).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423160"/>
            <a:ext cx="3630168" cy="24688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6060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3. Expansion desks adopt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971800"/>
            <a:ext cx="331012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Priya-style desks self-serve pre-work, arrive at consultant conversations evidence-armed; conversion to paid only AFTER free-tier trust (M1/M3 instrumented).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9728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93792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What we deliberately DON’T do: </a:t>
            </a:r>
            <a:r>
              <a:rPr sz="1150" b="0" i="0">
                <a:solidFill>
                  <a:srgbClr val="EAF1FC"/>
                </a:solidFill>
                <a:latin typeface="Calibri"/>
              </a:rPr>
              <a:t>no paid ranking anywhere facts are shown (trust contract), no bulk contact-data resale (O6, name/legal risk S38), no interviews implied in any deck claim (Phase-3 validates all [inference] tags).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ALL PRICING = [proposal], UNVALIDATED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Business-model hypotheses and go-to-market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11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166420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45336"/>
            <a:ext cx="1773935" cy="237744"/>
          </a:xfrm>
          <a:prstGeom prst="roundRect">
            <a:avLst>
              <a:gd name="adj" fmla="val 6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63624"/>
            <a:ext cx="16276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H1 · Free core (now)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City compare + policy matrix + source register stay free. Reputation density is the wedge; paying for data pre-trust kills it (business-model §1).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86400" cy="166420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545336"/>
            <a:ext cx="2176272" cy="237744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63624"/>
            <a:ext cx="20299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H2 · Pro seats [proposal]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$99–$199/yr individual; $500–$2,000/yr teams of 3–5 — anchored at 3–6% of market comparables’ $3.5K–$10K cycles (S30). Gate: free-tier traction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27832"/>
            <a:ext cx="5486400" cy="166420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355848"/>
            <a:ext cx="2015337" cy="237744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374136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H4 · Reports [proposal]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85032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Free quarterly standard; $299–$499 thematic deep-dives once publishing muscle exists (market precedent: free quarterly exists S31; historic $9,999 static lists S33).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27832"/>
            <a:ext cx="5486400" cy="1664208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355848"/>
            <a:ext cx="2820009" cy="237744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374136"/>
            <a:ext cx="267370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Calibri"/>
              </a:rPr>
              <a:t>H5 · Provider verified [proposal]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85032"/>
            <a:ext cx="5120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 i="0">
                <a:solidFill>
                  <a:srgbClr val="94A3B8"/>
                </a:solidFill>
                <a:latin typeface="Calibri"/>
              </a:rPr>
              <a:t>$199–$499/yr verified-profile attributes only — zero influence on rankings/answers; banned-paid-ranking is an immutable product rule (business-model §4).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6636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85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GTM hypotheses [proposal, no spend]: </a:t>
            </a:r>
            <a:r>
              <a:rPr sz="1100" b="0" i="0">
                <a:solidFill>
                  <a:srgbClr val="EAF1FC"/>
                </a:solidFill>
                <a:latin typeface="Calibri"/>
              </a:rPr>
              <a:t>content-catalyst loop (share links) + expansion-desk outreach + token funnel metrics (M3 search→detail ≥40%; M1 median &lt;10 min — BOTH are unvalidated targets until Phase 3 instrumentation reports).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GUARDRAILS THE BUILD ACTUALLY ENFORCES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Data trust, AI reliability, risks and success metrics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53212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Trust contract (enforced in code, not just values)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5212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Every figure sourced: </a:t>
            </a:r>
            <a:r>
              <a:rPr sz="1050">
                <a:solidFill>
                  <a:srgbClr val="94A3B8"/>
                </a:solidFill>
                <a:latin typeface="Calibri"/>
              </a:rPr>
              <a:t>seed linter FAILS the build on a sourceless value (F6); provenance chips on all numeric surfaces.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Denominators labelled: </a:t>
            </a:r>
            <a:r>
              <a:rPr sz="1050">
                <a:solidFill>
                  <a:srgbClr val="94A3B8"/>
                </a:solidFill>
                <a:latin typeface="Calibri"/>
              </a:rPr>
              <a:t>"GCCs, parent vs units" named at every count (S01/S02-style conflict rendered, never averaged).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Conflicts co-shown: </a:t>
            </a:r>
            <a:r>
              <a:rPr sz="1050">
                <a:solidFill>
                  <a:srgbClr val="94A3B8"/>
                </a:solidFill>
                <a:latin typeface="Calibri"/>
              </a:rPr>
              <a:t>$98.4B (S02) vs $164B (S04) both visible, flagged as contested.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Missing ≠ zero: </a:t>
            </a:r>
            <a:r>
              <a:rPr sz="1050">
                <a:solidFill>
                  <a:srgbClr val="94A3B8"/>
                </a:solidFill>
                <a:latin typeface="Calibri"/>
              </a:rPr>
              <a:t>"not yet tracked", draft policies flagged; placeholder sources labelled "stale".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AI cites or declines: </a:t>
            </a:r>
            <a:r>
              <a:rPr sz="1050">
                <a:solidFill>
                  <a:srgbClr val="94A3B8"/>
                </a:solidFill>
                <a:latin typeface="Calibri"/>
              </a:rPr>
              <a:t>only retrieved evidence citable; unknown citation IDs stripped in tests; insufficiency is an honest low-confidence path; recommendations never blended into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40680" cy="48006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Risks + metrics (targets are [proposals])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51206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Coverage honesty: </a:t>
            </a:r>
            <a:r>
              <a:rPr sz="1050">
                <a:solidFill>
                  <a:srgbClr val="94A3B8"/>
                </a:solidFill>
                <a:latin typeface="Calibri"/>
              </a:rPr>
              <a:t>46-company tracked subset; never billed as "all 2,117 GCCs" (S02/S30 context).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Name collision: </a:t>
            </a:r>
            <a:r>
              <a:rPr sz="1050">
                <a:solidFill>
                  <a:srgbClr val="94A3B8"/>
                </a:solidFill>
                <a:latin typeface="Calibri"/>
              </a:rPr>
              <a:t>gcc-atlas.com exists (S38) — working-title label everywhere; trademark check is a Phase-3 gate.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50">
                <a:solidFill>
                  <a:srgbClr val="2DD4BF"/>
                </a:solidFill>
                <a:latin typeface="Calibri"/>
              </a:rPr>
              <a:t>▪  </a:t>
            </a:r>
            <a:r>
              <a:rPr sz="1050" b="1">
                <a:solidFill>
                  <a:srgbClr val="2DD4BF"/>
                </a:solidFill>
                <a:latin typeface="Calibri"/>
              </a:rPr>
              <a:t>Data freshness: </a:t>
            </a:r>
            <a:r>
              <a:rPr sz="1050">
                <a:solidFill>
                  <a:srgbClr val="94A3B8"/>
                </a:solidFill>
                <a:latin typeface="Calibri"/>
              </a:rPr>
              <a:t>verify-by dates shown; manual re-verification pass scheduled at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160520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94A3B8"/>
                </a:solidFill>
                <a:latin typeface="Calibri"/>
              </a:rPr>
              <a:t>Time-to-answer &lt; 10 min [proposal]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9087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690872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94A3B8"/>
                </a:solidFill>
                <a:latin typeface="Calibri"/>
              </a:rPr>
              <a:t>100% of displayed figures carry sources (hard invariant); assistant ≥95% answered w/ ≥1 citation [proposal]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21224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221224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94A3B8"/>
                </a:solidFill>
                <a:latin typeface="Calibri"/>
              </a:rPr>
              <a:t>Search→detail ≥40% [proposal]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751575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alibri"/>
              </a:rPr>
              <a:t>M4-M6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751575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 i="0">
                <a:solidFill>
                  <a:srgbClr val="94A3B8"/>
                </a:solidFill>
                <a:latin typeface="Calibri"/>
              </a:rPr>
              <a:t>compare/assistant/provider engagement + no-paid-ranking guardrail countermetrics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Calibri"/>
              </a:rPr>
              <a:t>PHASE GATES (product/roadmap.md)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EAF1FC"/>
                </a:solidFill>
                <a:latin typeface="Calibri"/>
              </a:rPr>
              <a:t>Roadmap, prototype and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61872"/>
            <a:ext cx="11183112" cy="0"/>
          </a:xfrm>
          <a:prstGeom prst="line">
            <a:avLst/>
          </a:prstGeom>
          <a:ln w="12700">
            <a:solidFill>
              <a:srgbClr val="243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73952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GCC Atlas (working title) — Flexiple Product Intern assignment · pre-alpha prototype · sources: research/source-register.csv (S##)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13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30168" cy="3063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002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Phase 2 — DONE: working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21408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Research → strategy → full build (Phases 1–8)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Retrieval→citation pipeline + demo fallback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Rate limits, events, session ACL, QA report (108/108 tests green)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Deployment guide + render.yaml + this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30168" cy="3063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3" y="16002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Phase 3 — validation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121408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0→1 interviews to replace [inference] tags (5+ expansion desks, 2+ IPAs)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Re-calibrate M1/M3 targets from real funnel data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Trademark check (S38) → rename-or-keep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417320"/>
            <a:ext cx="3630168" cy="306324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3B5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6002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558A"/>
                </a:solidFill>
                <a:latin typeface="Calibri"/>
              </a:rPr>
              <a:t>Phase 4 — paid options (gated)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121408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H2 seats only after free-traction gate; H3 workspaces; H5 provider profiles under neutrality rules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980">
                <a:solidFill>
                  <a:srgbClr val="2DD4BF"/>
                </a:solidFill>
                <a:latin typeface="Calibri"/>
              </a:rPr>
              <a:t>▪  </a:t>
            </a:r>
            <a:r>
              <a:rPr sz="980" b="1">
                <a:solidFill>
                  <a:srgbClr val="2DD4BF"/>
                </a:solidFill>
                <a:latin typeface="Calibri"/>
              </a:rPr>
              <a:t>Monitoring layer F17 if O2 survives falsification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0F1726"/>
          </a:solidFill>
          <a:ln w="9525">
            <a:solidFill>
              <a:srgbClr val="243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881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The bet, honestly framed: </a:t>
            </a:r>
            <a:r>
              <a:rPr sz="1200" b="0" i="0">
                <a:solidFill>
                  <a:srgbClr val="EAF1FC"/>
                </a:solidFill>
                <a:latin typeface="Calibri"/>
              </a:rPr>
              <a:t>the market is undeniably real and growing; the intelligence layer above it is fragmented and expensive; a discipline-first free comparator is buildable and differentiated. What we have NOT proven: demand (no interviews), willingness-to-pay (proposals only), and defensibility against a fast follower. Every one of those is instrumented to be falsifiable in Phase 3 — which is the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Prototype + demo script: deployment/demo-walkthrough.md · QA evidence: qa/quality-report.md · Full evidence register: research/source-register.csv · Deck sources: product/deck-evidence-sources.md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